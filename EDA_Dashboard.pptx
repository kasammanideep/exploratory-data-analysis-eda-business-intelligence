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ABBC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AABBCC"/>
                </a:solidFill>
                <a:latin typeface="Arial"/>
              </a:rPr>
              <a:t>Revenue by Category (₹)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029-4D9C-BD62-00C4A87740F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029-4D9C-BD62-00C4A87740F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029-4D9C-BD62-00C4A87740F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029-4D9C-BD62-00C4A87740F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029-4D9C-BD62-00C4A87740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D7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Beauty</c:v>
                </c:pt>
                <c:pt idx="1">
                  <c:v>Sports</c:v>
                </c:pt>
                <c:pt idx="2">
                  <c:v>Home</c:v>
                </c:pt>
                <c:pt idx="3">
                  <c:v>Clothing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6468</c:v>
                </c:pt>
                <c:pt idx="1">
                  <c:v>11200</c:v>
                </c:pt>
                <c:pt idx="2">
                  <c:v>18500</c:v>
                </c:pt>
                <c:pt idx="3">
                  <c:v>27800</c:v>
                </c:pt>
                <c:pt idx="4">
                  <c:v>43535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029-4D9C-BD62-00C4A87740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34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23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ABBC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AABBCC"/>
                </a:solidFill>
                <a:latin typeface="Arial"/>
              </a:rPr>
              <a:t>Monthly Revenue Trend (₹)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ln w="38100" cap="flat">
              <a:solidFill>
                <a:srgbClr val="F725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2585"/>
              </a:solidFill>
              <a:ln w="9525" cap="flat">
                <a:solidFill>
                  <a:srgbClr val="F7258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D7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18200</c:v>
                </c:pt>
                <c:pt idx="1">
                  <c:v>19500</c:v>
                </c:pt>
                <c:pt idx="2">
                  <c:v>21000</c:v>
                </c:pt>
                <c:pt idx="3">
                  <c:v>22800</c:v>
                </c:pt>
                <c:pt idx="4">
                  <c:v>26003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43-4330-84FA-16D005A980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34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23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ABBC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AABBCC"/>
                </a:solidFill>
                <a:latin typeface="Arial"/>
              </a:rPr>
              <a:t>Revenue by Region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725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5DA-412C-81C3-51988EE50AE9}"/>
              </c:ext>
            </c:extLst>
          </c:dPt>
          <c:dPt>
            <c:idx val="1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DA-412C-81C3-51988EE50AE9}"/>
              </c:ext>
            </c:extLst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DA-412C-81C3-51988EE50AE9}"/>
              </c:ext>
            </c:extLst>
          </c:dPt>
          <c:dPt>
            <c:idx val="3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5DA-412C-81C3-51988EE50AE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DA-412C-81C3-51988EE50AE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DA-412C-81C3-51988EE50AE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DA-412C-81C3-51988EE50AE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DA-412C-81C3-51988EE50AE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South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25</c:v>
                </c:pt>
                <c:pt idx="2">
                  <c:v>23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DA-412C-81C3-51988EE50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F234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ABB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23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ABBC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AABBCC"/>
                </a:solidFill>
                <a:latin typeface="Arial"/>
              </a:rPr>
              <a:t>Orders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D7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18–24</c:v>
                </c:pt>
                <c:pt idx="1">
                  <c:v>25–35</c:v>
                </c:pt>
                <c:pt idx="2">
                  <c:v>36–45</c:v>
                </c:pt>
                <c:pt idx="3">
                  <c:v>46–55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17</c:v>
                </c:pt>
                <c:pt idx="2">
                  <c:v>13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4B-47BA-8857-075CC0DB50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34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23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31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2057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0" y="2697480"/>
            <a:ext cx="4023360" cy="64008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3017520"/>
            <a:ext cx="2651760" cy="100584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306324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340156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Orders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3017520"/>
            <a:ext cx="2651760" cy="100584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306324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340156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 2024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3017520"/>
            <a:ext cx="2651760" cy="100584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306324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53912" y="340156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 · PowerPoint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C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" y="777240"/>
            <a:ext cx="1691640" cy="416052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960120"/>
            <a:ext cx="685800" cy="685800"/>
          </a:xfrm>
          <a:prstGeom prst="ellipse">
            <a:avLst/>
          </a:prstGeom>
          <a:solidFill>
            <a:srgbClr val="E6307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18288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₹1,07,503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" y="3090672"/>
            <a:ext cx="1143000" cy="45720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32461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777240"/>
            <a:ext cx="1691640" cy="416052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96012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938528" y="18288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₹2,150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148840" y="3090672"/>
            <a:ext cx="1143000" cy="45720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15" name="Text 13"/>
          <p:cNvSpPr/>
          <p:nvPr/>
        </p:nvSpPr>
        <p:spPr>
          <a:xfrm>
            <a:off x="1938528" y="32461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75888" y="777240"/>
            <a:ext cx="1691640" cy="416052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78808" y="960120"/>
            <a:ext cx="685800" cy="685800"/>
          </a:xfrm>
          <a:prstGeom prst="ellipse">
            <a:avLst/>
          </a:prstGeom>
          <a:solidFill>
            <a:srgbClr val="E07050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18288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21608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950208" y="3090672"/>
            <a:ext cx="1143000" cy="45720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21" name="Text 19"/>
          <p:cNvSpPr/>
          <p:nvPr/>
        </p:nvSpPr>
        <p:spPr>
          <a:xfrm>
            <a:off x="3739896" y="32461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₹43,535 revenue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77256" y="777240"/>
            <a:ext cx="1691640" cy="416052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0176" y="960120"/>
            <a:ext cx="685800" cy="6858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5541264" y="18288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22976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751576" y="3090672"/>
            <a:ext cx="1143000" cy="45720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27" name="Text 25"/>
          <p:cNvSpPr/>
          <p:nvPr/>
        </p:nvSpPr>
        <p:spPr>
          <a:xfrm>
            <a:off x="5541264" y="32461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of orders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78624" y="777240"/>
            <a:ext cx="1691640" cy="416052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81544" y="960120"/>
            <a:ext cx="685800" cy="685800"/>
          </a:xfrm>
          <a:prstGeom prst="ellipse">
            <a:avLst/>
          </a:prstGeom>
          <a:solidFill>
            <a:srgbClr val="D4AF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42632" y="18288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24344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552944" y="3090672"/>
            <a:ext cx="1143000" cy="45720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33" name="Text 31"/>
          <p:cNvSpPr/>
          <p:nvPr/>
        </p:nvSpPr>
        <p:spPr>
          <a:xfrm>
            <a:off x="7342632" y="32461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4.2x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C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4297680" cy="3383280"/>
          </a:xfrm>
          <a:prstGeom prst="rect">
            <a:avLst/>
          </a:prstGeom>
          <a:solidFill>
            <a:srgbClr val="0F2342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137160" y="77724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709160" y="777240"/>
            <a:ext cx="4297680" cy="3383280"/>
          </a:xfrm>
          <a:prstGeom prst="rect">
            <a:avLst/>
          </a:prstGeom>
          <a:solidFill>
            <a:srgbClr val="0F2342"/>
          </a:solidFill>
          <a:ln w="12700">
            <a:solidFill>
              <a:srgbClr val="F72585"/>
            </a:solidFill>
            <a:prstDash val="solid"/>
          </a:ln>
        </p:spPr>
      </p:sp>
      <p:graphicFrame>
        <p:nvGraphicFramePr>
          <p:cNvPr id="7" name="Chart 1"/>
          <p:cNvGraphicFramePr/>
          <p:nvPr/>
        </p:nvGraphicFramePr>
        <p:xfrm>
          <a:off x="4709160" y="77724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137160" y="4315968"/>
            <a:ext cx="4297680" cy="594360"/>
          </a:xfrm>
          <a:prstGeom prst="rect">
            <a:avLst/>
          </a:prstGeom>
          <a:solidFill>
            <a:srgbClr val="08382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43434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Electronics leads with 40% of total revenue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4315968"/>
            <a:ext cx="4297680" cy="594360"/>
          </a:xfrm>
          <a:prstGeom prst="rect">
            <a:avLst/>
          </a:prstGeom>
          <a:solidFill>
            <a:srgbClr val="382C0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43434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Revenue peaks in May — likely seasonal demand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C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&amp; Marketing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4297680" cy="2743200"/>
          </a:xfrm>
          <a:prstGeom prst="rect">
            <a:avLst/>
          </a:prstGeom>
          <a:solidFill>
            <a:srgbClr val="0F2342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137160" y="77724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709160" y="777240"/>
            <a:ext cx="4297680" cy="2743200"/>
          </a:xfrm>
          <a:prstGeom prst="rect">
            <a:avLst/>
          </a:prstGeom>
          <a:solidFill>
            <a:srgbClr val="0F2342"/>
          </a:solidFill>
          <a:ln w="12700">
            <a:solidFill>
              <a:srgbClr val="F72585"/>
            </a:solidFill>
            <a:prstDash val="solid"/>
          </a:ln>
        </p:spPr>
      </p:sp>
      <p:graphicFrame>
        <p:nvGraphicFramePr>
          <p:cNvPr id="7" name="Chart 1"/>
          <p:cNvGraphicFramePr/>
          <p:nvPr/>
        </p:nvGraphicFramePr>
        <p:xfrm>
          <a:off x="4709160" y="77724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137160" y="3675888"/>
            <a:ext cx="8869680" cy="384048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9" name="Text 5"/>
          <p:cNvSpPr/>
          <p:nvPr/>
        </p:nvSpPr>
        <p:spPr>
          <a:xfrm>
            <a:off x="137160" y="3685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— Key Findings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7160" y="4133088"/>
            <a:ext cx="2103120" cy="804672"/>
          </a:xfrm>
          <a:prstGeom prst="rect">
            <a:avLst/>
          </a:prstGeom>
          <a:solidFill>
            <a:srgbClr val="0F2342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4151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0.87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2880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+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8288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vs Revenue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377440" y="4133088"/>
            <a:ext cx="2103120" cy="804672"/>
          </a:xfrm>
          <a:prstGeom prst="rect">
            <a:avLst/>
          </a:prstGeom>
          <a:solidFill>
            <a:srgbClr val="0F234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23160" y="4151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0.74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423160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+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2316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vs Revenue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17720" y="4133088"/>
            <a:ext cx="2103120" cy="804672"/>
          </a:xfrm>
          <a:prstGeom prst="rect">
            <a:avLst/>
          </a:prstGeom>
          <a:solidFill>
            <a:srgbClr val="0F234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0" y="4151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0.61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63440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+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66344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vs Revenue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58000" y="4133088"/>
            <a:ext cx="2103120" cy="804672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03720" y="4151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903720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+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90372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Revenue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C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06240" cy="4114800"/>
          </a:xfrm>
          <a:prstGeom prst="rect">
            <a:avLst/>
          </a:prstGeom>
          <a:solidFill>
            <a:srgbClr val="0F2342"/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4206240" cy="475488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503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FINDINGS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329184" cy="329184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4475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highest revenue category (₹43,535)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329184" cy="329184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0665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contributes the most orders (32%)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329184" cy="329184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6883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25–35 are the biggest spenders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346704"/>
            <a:ext cx="329184" cy="329184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31012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marketing spend strongly drives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329184" cy="329184"/>
          </a:xfrm>
          <a:prstGeom prst="ellipse">
            <a:avLst/>
          </a:prstGeom>
          <a:solidFill>
            <a:srgbClr val="F72585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2024 recorded peak monthly revenue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206240" cy="4114800"/>
          </a:xfrm>
          <a:prstGeom prst="rect">
            <a:avLst/>
          </a:prstGeom>
          <a:solidFill>
            <a:srgbClr val="0F234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822960"/>
            <a:ext cx="4206240" cy="4754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8503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517904"/>
            <a:ext cx="329184" cy="32918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14813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budget for Electronics in North region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286000"/>
            <a:ext cx="329184" cy="32918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2249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campaigns for age group 25–35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054096"/>
            <a:ext cx="329184" cy="32918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0175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bundle discounts in Beauty &amp; Home to boost AOV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92040" y="3822192"/>
            <a:ext cx="329184" cy="32918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7856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trend — plan stock ahead of May spike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122040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560320" y="2240280"/>
            <a:ext cx="4023360" cy="73152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542032"/>
            <a:ext cx="7680960" cy="658368"/>
          </a:xfrm>
          <a:prstGeom prst="rect">
            <a:avLst/>
          </a:prstGeom>
          <a:solidFill>
            <a:srgbClr val="0F234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786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 GitHub: github.com/yourusername/eda-project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3814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 Orders  ·  Period: Jan–May 2024  ·  Tools: Python, SQL, PowerPoint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271</Words>
  <Application>Microsoft Office PowerPoint</Application>
  <PresentationFormat>On-screen Show (16:9)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Kasam Manideep</cp:lastModifiedBy>
  <cp:revision>3</cp:revision>
  <dcterms:created xsi:type="dcterms:W3CDTF">2026-05-22T05:21:22Z</dcterms:created>
  <dcterms:modified xsi:type="dcterms:W3CDTF">2026-05-22T05:37:40Z</dcterms:modified>
</cp:coreProperties>
</file>